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effectLst/>
        <a:gradFill flip="none" rotWithShape="1">
          <a:gsLst>
            <a:gs pos="0">
              <a:srgbClr val="334DCC"/>
            </a:gs>
            <a:gs pos="100000">
              <a:srgbClr val="4C1D95"/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2011680"/>
            <a:ext cx="4114800" cy="4114800"/>
          </a:xfrm>
          <a:prstGeom prst="ellipse">
            <a:avLst/>
          </a:prstGeom>
          <a:solidFill>
            <a:srgbClr val="A87FFF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6B8AFF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spc="320">
                <a:solidFill>
                  <a:srgbClr val="FCD34D"/>
                </a:solidFill>
                <a:latin typeface="Segoe UI"/>
              </a:rPr>
              <a:t>IT ASSETS MANAGEMENT  ·  LARAVEL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9728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1">
                <a:solidFill>
                  <a:srgbClr val="FFFFFF"/>
                </a:solidFill>
                <a:latin typeface="Segoe UI"/>
              </a:rPr>
              <a:t>Infra Ninja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FFFFF"/>
                </a:solidFill>
                <a:latin typeface="Segoe UI"/>
              </a:rPr>
              <a:t>PCs · Devices · Subscriptions · Licenses &amp;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0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E0E7FF"/>
                </a:solidFill>
                <a:latin typeface="Segoe UI"/>
              </a:rPr>
              <a:t>One place. One workflow. Renewals that don't slip through the cracks.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Segoe UI"/>
              </a:rPr>
              <a:t>01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effectLst/>
        <a:gradFill flip="none" rotWithShape="1">
          <a:gsLst>
            <a:gs pos="0">
              <a:srgbClr val="FAFBFC"/>
            </a:gs>
            <a:gs pos="100000">
              <a:srgbClr val="EEF1F6"/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2286000"/>
            <a:ext cx="5029200" cy="5029200"/>
          </a:xfrm>
          <a:prstGeom prst="ellipse">
            <a:avLst/>
          </a:prstGeom>
          <a:solidFill>
            <a:srgbClr val="6F3C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6F3C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ctr"/>
            <a:r>
              <a:rPr sz="900" b="1">
                <a:solidFill>
                  <a:srgbClr val="6F3CFF"/>
                </a:solidFill>
                <a:latin typeface="Segoe UI"/>
              </a:rPr>
              <a:t>02  · 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60">
                <a:solidFill>
                  <a:srgbClr val="94A3B8"/>
                </a:solidFill>
                <a:latin typeface="Segoe UI"/>
              </a:rPr>
              <a:t>INFRA NINJA  ·  ITAMS</a:t>
            </a:r>
          </a:p>
        </p:txBody>
      </p:sp>
      <p:sp>
        <p:nvSpPr>
          <p:cNvPr id="5" name="Oval 4"/>
          <p:cNvSpPr/>
          <p:nvPr/>
        </p:nvSpPr>
        <p:spPr>
          <a:xfrm>
            <a:off x="9210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5051" y="6537960"/>
            <a:ext cx="77724" cy="77724"/>
          </a:xfrm>
          <a:prstGeom prst="ellipse">
            <a:avLst/>
          </a:prstGeom>
          <a:solidFill>
            <a:srgbClr val="6F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393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36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679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22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965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08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251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394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53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68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823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966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109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252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395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538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681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824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96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611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Segoe UI"/>
              </a:rPr>
              <a:t>What is Infra Ninja?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508760"/>
            <a:ext cx="111556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A unified web app for tracking every renewable IT asset in your organization.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2194560"/>
            <a:ext cx="10789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500" b="1">
                <a:solidFill>
                  <a:srgbClr val="0F172A"/>
                </a:solidFill>
                <a:latin typeface="Segoe UI"/>
              </a:rPr>
              <a:t>Single source of truth</a:t>
            </a:r>
            <a:r>
              <a:rPr sz="1400">
                <a:solidFill>
                  <a:srgbClr val="334055"/>
                </a:solidFill>
                <a:latin typeface="Segoe UI"/>
              </a:rPr>
              <a:t>   for PCs, peripherals, subscriptions and licenses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500" b="1">
                <a:solidFill>
                  <a:srgbClr val="0F172A"/>
                </a:solidFill>
                <a:latin typeface="Segoe UI"/>
              </a:rPr>
              <a:t>Granular permissions</a:t>
            </a:r>
            <a:r>
              <a:rPr sz="1400">
                <a:solidFill>
                  <a:srgbClr val="334055"/>
                </a:solidFill>
                <a:latin typeface="Segoe UI"/>
              </a:rPr>
              <a:t>   per-module View / Edit on top of admin / user roles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500" b="1">
                <a:solidFill>
                  <a:srgbClr val="0F172A"/>
                </a:solidFill>
                <a:latin typeface="Segoe UI"/>
              </a:rPr>
              <a:t>Proactive renewals</a:t>
            </a:r>
            <a:r>
              <a:rPr sz="1400">
                <a:solidFill>
                  <a:srgbClr val="334055"/>
                </a:solidFill>
                <a:latin typeface="Segoe UI"/>
              </a:rPr>
              <a:t>   live expiring badge, staggered email digests, mark-as-read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500" b="1">
                <a:solidFill>
                  <a:srgbClr val="0F172A"/>
                </a:solidFill>
                <a:latin typeface="Segoe UI"/>
              </a:rPr>
              <a:t>Audit-ready</a:t>
            </a:r>
            <a:r>
              <a:rPr sz="1400">
                <a:solidFill>
                  <a:srgbClr val="334055"/>
                </a:solidFill>
                <a:latin typeface="Segoe UI"/>
              </a:rPr>
              <a:t>   every change is logged — who, when, what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500" b="1">
                <a:solidFill>
                  <a:srgbClr val="0F172A"/>
                </a:solidFill>
                <a:latin typeface="Segoe UI"/>
              </a:rPr>
              <a:t>Self-service</a:t>
            </a:r>
            <a:r>
              <a:rPr sz="1400">
                <a:solidFill>
                  <a:srgbClr val="334055"/>
                </a:solidFill>
                <a:latin typeface="Segoe UI"/>
              </a:rPr>
              <a:t>   users update their own profile and password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500" b="1">
                <a:solidFill>
                  <a:srgbClr val="0F172A"/>
                </a:solidFill>
                <a:latin typeface="Segoe UI"/>
              </a:rPr>
              <a:t>Modern UI</a:t>
            </a:r>
            <a:r>
              <a:rPr sz="1400">
                <a:solidFill>
                  <a:srgbClr val="334055"/>
                </a:solidFill>
                <a:latin typeface="Segoe UI"/>
              </a:rPr>
              <a:t>   Bootstrap 5 + glass-card auth + dark mode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effectLst/>
        <a:gradFill flip="none" rotWithShape="1">
          <a:gsLst>
            <a:gs pos="0">
              <a:srgbClr val="FAFBFC"/>
            </a:gs>
            <a:gs pos="100000">
              <a:srgbClr val="EEF1F6"/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2286000"/>
            <a:ext cx="5029200" cy="5029200"/>
          </a:xfrm>
          <a:prstGeom prst="ellipse">
            <a:avLst/>
          </a:prstGeom>
          <a:solidFill>
            <a:srgbClr val="6F3C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6F3C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ctr"/>
            <a:r>
              <a:rPr sz="900" b="1">
                <a:solidFill>
                  <a:srgbClr val="6F3CFF"/>
                </a:solidFill>
                <a:latin typeface="Segoe UI"/>
              </a:rPr>
              <a:t>03  · 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60">
                <a:solidFill>
                  <a:srgbClr val="94A3B8"/>
                </a:solidFill>
                <a:latin typeface="Segoe UI"/>
              </a:rPr>
              <a:t>INFRA NINJA  ·  ITAMS</a:t>
            </a:r>
          </a:p>
        </p:txBody>
      </p:sp>
      <p:sp>
        <p:nvSpPr>
          <p:cNvPr id="5" name="Oval 4"/>
          <p:cNvSpPr/>
          <p:nvPr/>
        </p:nvSpPr>
        <p:spPr>
          <a:xfrm>
            <a:off x="9210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5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39351" y="6537960"/>
            <a:ext cx="77724" cy="77724"/>
          </a:xfrm>
          <a:prstGeom prst="ellipse">
            <a:avLst/>
          </a:prstGeom>
          <a:solidFill>
            <a:srgbClr val="6F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36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679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22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965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08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251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394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53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68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823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966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109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252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395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538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681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824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96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611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Segoe UI"/>
              </a:rPr>
              <a:t>Team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508760"/>
            <a:ext cx="111556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The people who built and maintain this system.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2327" y="2240280"/>
            <a:ext cx="329184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638147" y="2697480"/>
            <a:ext cx="1600200" cy="1600200"/>
          </a:xfrm>
          <a:prstGeom prst="ellipse">
            <a:avLst/>
          </a:prstGeom>
          <a:solidFill>
            <a:srgbClr val="0D6EFD"/>
          </a:solidFill>
          <a:ln w="31750">
            <a:solidFill>
              <a:srgbClr val="6F3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800" b="1">
                <a:solidFill>
                  <a:srgbClr val="FFFFFF"/>
                </a:solidFill>
                <a:latin typeface="Segoe UI"/>
              </a:rPr>
              <a:t>TZ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207" y="461772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Thiha Zin Ko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207" y="5257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49927" y="2240280"/>
            <a:ext cx="329184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295747" y="2697480"/>
            <a:ext cx="1600200" cy="1600200"/>
          </a:xfrm>
          <a:prstGeom prst="ellipse">
            <a:avLst/>
          </a:prstGeom>
          <a:solidFill>
            <a:srgbClr val="6F3CFF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800" b="1">
                <a:solidFill>
                  <a:srgbClr val="FFFFFF"/>
                </a:solidFill>
                <a:latin typeface="Segoe UI"/>
              </a:rPr>
              <a:t>ZM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2807" y="461772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Zwe Myat Thurain Phyo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32807" y="5257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07527" y="2240280"/>
            <a:ext cx="329184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953347" y="2697480"/>
            <a:ext cx="1600200" cy="1600200"/>
          </a:xfrm>
          <a:prstGeom prst="ellipse">
            <a:avLst/>
          </a:prstGeom>
          <a:solidFill>
            <a:srgbClr val="10B981"/>
          </a:solidFill>
          <a:ln w="3175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800" b="1">
                <a:solidFill>
                  <a:srgbClr val="FFFFFF"/>
                </a:solidFill>
                <a:latin typeface="Segoe UI"/>
              </a:rPr>
              <a:t>NW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0407" y="461772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Nyein Wai Khant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0407" y="5257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effectLst/>
        <a:gradFill flip="none" rotWithShape="1">
          <a:gsLst>
            <a:gs pos="0">
              <a:srgbClr val="FAFBFC"/>
            </a:gs>
            <a:gs pos="100000">
              <a:srgbClr val="EEF1F6"/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2286000"/>
            <a:ext cx="5029200" cy="5029200"/>
          </a:xfrm>
          <a:prstGeom prst="ellipse">
            <a:avLst/>
          </a:prstGeom>
          <a:solidFill>
            <a:srgbClr val="6F3C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6F3C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ctr"/>
            <a:r>
              <a:rPr sz="900" b="1">
                <a:solidFill>
                  <a:srgbClr val="6F3CFF"/>
                </a:solidFill>
                <a:latin typeface="Segoe UI"/>
              </a:rPr>
              <a:t>04  · 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60">
                <a:solidFill>
                  <a:srgbClr val="94A3B8"/>
                </a:solidFill>
                <a:latin typeface="Segoe UI"/>
              </a:rPr>
              <a:t>INFRA NINJA  ·  ITAMS</a:t>
            </a:r>
          </a:p>
        </p:txBody>
      </p:sp>
      <p:sp>
        <p:nvSpPr>
          <p:cNvPr id="5" name="Oval 4"/>
          <p:cNvSpPr/>
          <p:nvPr/>
        </p:nvSpPr>
        <p:spPr>
          <a:xfrm>
            <a:off x="9210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5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393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3651" y="6537960"/>
            <a:ext cx="77724" cy="77724"/>
          </a:xfrm>
          <a:prstGeom prst="ellipse">
            <a:avLst/>
          </a:prstGeom>
          <a:solidFill>
            <a:srgbClr val="6F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679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22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965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08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251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394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53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68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823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966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109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252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395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538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681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824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96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611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Segoe UI"/>
              </a:rPr>
              <a:t>Tech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508760"/>
            <a:ext cx="111556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Boring, stable, well-supported. No exotic dependencies.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2286000"/>
            <a:ext cx="274320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2286000"/>
            <a:ext cx="77724" cy="2606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2542032"/>
            <a:ext cx="2286000" cy="2212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D6EFD"/>
                </a:solidFill>
                <a:latin typeface="Segoe UI"/>
              </a:rPr>
              <a:t>Backend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PHP 8.2+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Laravel 11.31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Eloquent ORM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80" y="2286000"/>
            <a:ext cx="274320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83280" y="2286000"/>
            <a:ext cx="77724" cy="2606040"/>
          </a:xfrm>
          <a:prstGeom prst="rect">
            <a:avLst/>
          </a:prstGeom>
          <a:solidFill>
            <a:srgbClr val="6F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5888" y="2542032"/>
            <a:ext cx="2286000" cy="2212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6F3CFF"/>
                </a:solidFill>
                <a:latin typeface="Segoe UI"/>
              </a:rPr>
              <a:t>Frontend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6F3CFF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Blade templates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6F3CFF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Bootstrap 5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6F3CFF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Bootstrap Icons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6F3CFF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Vite + Tailwind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2286000"/>
            <a:ext cx="274320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2286000"/>
            <a:ext cx="77724" cy="2606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56248" y="2542032"/>
            <a:ext cx="2286000" cy="2212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Segoe UI"/>
              </a:rPr>
              <a:t>Database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MySQL / MariaDB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JSON columns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Encrypted fields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11 tables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2286000"/>
            <a:ext cx="274320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0" y="2286000"/>
            <a:ext cx="77724" cy="2606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36608" y="2542032"/>
            <a:ext cx="2286000" cy="2212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Segoe UI"/>
              </a:rPr>
              <a:t>Integrations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SMTP mail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Excel I/O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Chart.js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Windows Task Scheduler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effectLst/>
        <a:gradFill flip="none" rotWithShape="1">
          <a:gsLst>
            <a:gs pos="0">
              <a:srgbClr val="FAFBFC"/>
            </a:gs>
            <a:gs pos="100000">
              <a:srgbClr val="EEF1F6"/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2286000"/>
            <a:ext cx="5029200" cy="5029200"/>
          </a:xfrm>
          <a:prstGeom prst="ellipse">
            <a:avLst/>
          </a:prstGeom>
          <a:solidFill>
            <a:srgbClr val="6F3C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6F3C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ctr"/>
            <a:r>
              <a:rPr sz="900" b="1">
                <a:solidFill>
                  <a:srgbClr val="6F3CFF"/>
                </a:solidFill>
                <a:latin typeface="Segoe UI"/>
              </a:rPr>
              <a:t>05  · 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60">
                <a:solidFill>
                  <a:srgbClr val="94A3B8"/>
                </a:solidFill>
                <a:latin typeface="Segoe UI"/>
              </a:rPr>
              <a:t>INFRA NINJA  ·  ITAMS</a:t>
            </a:r>
          </a:p>
        </p:txBody>
      </p:sp>
      <p:sp>
        <p:nvSpPr>
          <p:cNvPr id="5" name="Oval 4"/>
          <p:cNvSpPr/>
          <p:nvPr/>
        </p:nvSpPr>
        <p:spPr>
          <a:xfrm>
            <a:off x="9210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5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393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36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67951" y="6537960"/>
            <a:ext cx="77724" cy="77724"/>
          </a:xfrm>
          <a:prstGeom prst="ellipse">
            <a:avLst/>
          </a:prstGeom>
          <a:solidFill>
            <a:srgbClr val="6F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22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965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08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251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394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53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68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823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966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109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252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395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538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681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824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96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611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Segoe UI"/>
              </a:rPr>
              <a:t>High-level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508760"/>
            <a:ext cx="111556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Classic Laravel MVC — session cookies, server-rendered Blade, no SPA.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237744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Browser  ·  Blade UI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49039" y="2377440"/>
            <a:ext cx="3840480" cy="548640"/>
          </a:xfrm>
          <a:prstGeom prst="roundRect">
            <a:avLst>
              <a:gd name="adj" fmla="val 50000"/>
            </a:avLst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Laravel 11  ·  Routes / Controllers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237744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MySQL  ·  Eloquent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291840" y="2505456"/>
            <a:ext cx="411480" cy="292608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7635240" y="2505456"/>
            <a:ext cx="411480" cy="292608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338328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3383280"/>
            <a:ext cx="77724" cy="2286000"/>
          </a:xfrm>
          <a:prstGeom prst="rect">
            <a:avLst/>
          </a:prstGeom>
          <a:solidFill>
            <a:srgbClr val="6F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3639312"/>
            <a:ext cx="5029200" cy="1892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6F3CFF"/>
                </a:solidFill>
                <a:latin typeface="Segoe UI"/>
              </a:rPr>
              <a:t>Cross-cutting concerns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6F3CFF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Middleware: admin · module:&lt;name&gt;,&lt;view|edit&gt;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6F3CFF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AppServiceProvider applies DB-driven mail config at boot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6F3CFF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ActivityLogger captures every state change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338328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3383280"/>
            <a:ext cx="77724" cy="228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64808" y="3639312"/>
            <a:ext cx="5029200" cy="1892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EF4444"/>
                </a:solidFill>
                <a:latin typeface="Segoe UI"/>
              </a:rPr>
              <a:t>Scheduled work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EF4444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app:check-expirations runs once daily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EF4444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Marks overdue Subscriptions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EF4444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Sends staggered reminder digests (per day-mark)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effectLst/>
        <a:gradFill flip="none" rotWithShape="1">
          <a:gsLst>
            <a:gs pos="0">
              <a:srgbClr val="FAFBFC"/>
            </a:gs>
            <a:gs pos="100000">
              <a:srgbClr val="EEF1F6"/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6400800" cy="457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0" b="1">
                <a:solidFill>
                  <a:srgbClr val="D3F2E8"/>
                </a:solidFill>
                <a:latin typeface="Segoe UI"/>
              </a:rPr>
              <a:t>01</a:t>
            </a:r>
          </a:p>
        </p:txBody>
      </p:sp>
      <p:sp>
        <p:nvSpPr>
          <p:cNvPr id="3" name="Oval 2"/>
          <p:cNvSpPr/>
          <p:nvPr/>
        </p:nvSpPr>
        <p:spPr>
          <a:xfrm>
            <a:off x="7772400" y="2743200"/>
            <a:ext cx="5486400" cy="5486400"/>
          </a:xfrm>
          <a:prstGeom prst="ellipse">
            <a:avLst/>
          </a:prstGeom>
          <a:solidFill>
            <a:srgbClr val="10B98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3375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CHAPTER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03320"/>
            <a:ext cx="11155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0F172A"/>
                </a:solidFill>
                <a:latin typeface="Segoe UI"/>
              </a:rPr>
              <a:t>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983480"/>
            <a:ext cx="914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166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4748B"/>
                </a:solidFill>
                <a:latin typeface="Segoe UI"/>
              </a:rPr>
              <a:t>The four asset categories your team manages — end-to-end CRUD with audit log and bulk operations.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60">
                <a:solidFill>
                  <a:srgbClr val="94A3B8"/>
                </a:solidFill>
                <a:latin typeface="Segoe UI"/>
              </a:rPr>
              <a:t>INFRA NINJA  ·  ITAMS</a:t>
            </a:r>
          </a:p>
        </p:txBody>
      </p:sp>
      <p:sp>
        <p:nvSpPr>
          <p:cNvPr id="9" name="Oval 8"/>
          <p:cNvSpPr/>
          <p:nvPr/>
        </p:nvSpPr>
        <p:spPr>
          <a:xfrm>
            <a:off x="9210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5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393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36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679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2251" y="6537960"/>
            <a:ext cx="77724" cy="777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965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108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251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394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53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68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823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966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109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252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0395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1538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681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824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496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611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effectLst/>
        <a:gradFill flip="none" rotWithShape="1">
          <a:gsLst>
            <a:gs pos="0">
              <a:srgbClr val="FAFBFC"/>
            </a:gs>
            <a:gs pos="100000">
              <a:srgbClr val="EEF1F6"/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2286000"/>
            <a:ext cx="5029200" cy="5029200"/>
          </a:xfrm>
          <a:prstGeom prst="ellipse">
            <a:avLst/>
          </a:prstGeom>
          <a:solidFill>
            <a:srgbClr val="10B98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ctr"/>
            <a:r>
              <a:rPr sz="900" b="1">
                <a:solidFill>
                  <a:srgbClr val="10B981"/>
                </a:solidFill>
                <a:latin typeface="Segoe UI"/>
              </a:rPr>
              <a:t>07  · 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60">
                <a:solidFill>
                  <a:srgbClr val="94A3B8"/>
                </a:solidFill>
                <a:latin typeface="Segoe UI"/>
              </a:rPr>
              <a:t>INFRA NINJA  ·  ITAMS</a:t>
            </a:r>
          </a:p>
        </p:txBody>
      </p:sp>
      <p:sp>
        <p:nvSpPr>
          <p:cNvPr id="5" name="Oval 4"/>
          <p:cNvSpPr/>
          <p:nvPr/>
        </p:nvSpPr>
        <p:spPr>
          <a:xfrm>
            <a:off x="9210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5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393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36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679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22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96551" y="6537960"/>
            <a:ext cx="77724" cy="777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08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251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394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53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68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823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966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109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252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395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538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681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824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96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611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Segoe UI"/>
              </a:rPr>
              <a:t>Four asset modules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508760"/>
            <a:ext cx="111556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Each has full CRUD, search, filter, Excel import / export, and bulk delete.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2194560"/>
            <a:ext cx="553212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2194560"/>
            <a:ext cx="77724" cy="1874519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2450592"/>
            <a:ext cx="5074920" cy="1481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D6EFD"/>
                </a:solidFill>
                <a:latin typeface="Segoe UI"/>
              </a:rPr>
              <a:t>PC Master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Workstations, employees, status, encrypted credentials.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Route prefix: /pc-assets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2194560"/>
            <a:ext cx="553212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2194560"/>
            <a:ext cx="77724" cy="187451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8" y="2450592"/>
            <a:ext cx="5074920" cy="1481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Segoe UI"/>
              </a:rPr>
              <a:t>Device Master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Peripherals, inventory qty, serial, warranty.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0B981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Route prefix: /devices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233671"/>
            <a:ext cx="553212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4233671"/>
            <a:ext cx="77724" cy="1874519"/>
          </a:xfrm>
          <a:prstGeom prst="rect">
            <a:avLst/>
          </a:prstGeom>
          <a:solidFill>
            <a:srgbClr val="6F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" y="4489703"/>
            <a:ext cx="5074920" cy="1481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6F3CFF"/>
                </a:solidFill>
                <a:latin typeface="Segoe UI"/>
              </a:rPr>
              <a:t>Subscriptions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6F3CFF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Domain, SSL, hosting, cloud, renewal cadence.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6F3CFF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Route prefix: /subscriptions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4233671"/>
            <a:ext cx="553212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4233671"/>
            <a:ext cx="77724" cy="18745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64808" y="4489703"/>
            <a:ext cx="5074920" cy="1481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Segoe UI"/>
              </a:rPr>
              <a:t>License &amp; Contract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Software licenses &amp; vendor contracts.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Route prefix: /licenses-contracts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effectLst/>
        <a:gradFill flip="none" rotWithShape="1">
          <a:gsLst>
            <a:gs pos="0">
              <a:srgbClr val="FAFBFC"/>
            </a:gs>
            <a:gs pos="100000">
              <a:srgbClr val="EEF1F6"/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2286000"/>
            <a:ext cx="5029200" cy="5029200"/>
          </a:xfrm>
          <a:prstGeom prst="ellipse">
            <a:avLst/>
          </a:prstGeom>
          <a:solidFill>
            <a:srgbClr val="10B98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ctr"/>
            <a:r>
              <a:rPr sz="900" b="1">
                <a:solidFill>
                  <a:srgbClr val="10B981"/>
                </a:solidFill>
                <a:latin typeface="Segoe UI"/>
              </a:rPr>
              <a:t>08  · 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60">
                <a:solidFill>
                  <a:srgbClr val="94A3B8"/>
                </a:solidFill>
                <a:latin typeface="Segoe UI"/>
              </a:rPr>
              <a:t>INFRA NINJA  ·  ITAMS</a:t>
            </a:r>
          </a:p>
        </p:txBody>
      </p:sp>
      <p:sp>
        <p:nvSpPr>
          <p:cNvPr id="5" name="Oval 4"/>
          <p:cNvSpPr/>
          <p:nvPr/>
        </p:nvSpPr>
        <p:spPr>
          <a:xfrm>
            <a:off x="9210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5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393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36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679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22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965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0851" y="6537960"/>
            <a:ext cx="77724" cy="777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251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394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53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68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823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966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109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252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395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538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681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824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96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611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Segoe UI"/>
              </a:rPr>
              <a:t>PC Master &amp; Device Master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508760"/>
            <a:ext cx="111556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Hardware inventory — who has what, where it lives, when it was bought.</a:t>
            </a:r>
          </a:p>
        </p:txBody>
      </p:sp>
      <p:pic>
        <p:nvPicPr>
          <p:cNvPr id="29" name="Picture 28" descr="11-pc-as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0"/>
            <a:ext cx="5532120" cy="3456432"/>
          </a:xfrm>
          <a:prstGeom prst="roundRect">
            <a:avLst>
              <a:gd name="adj" fmla="val 5000"/>
            </a:avLst>
          </a:prstGeom>
          <a:ln w="9525">
            <a:solidFill>
              <a:srgbClr val="E2E8F0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502920" y="5715000"/>
            <a:ext cx="5532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i="1">
                <a:solidFill>
                  <a:srgbClr val="64748B"/>
                </a:solidFill>
                <a:latin typeface="Segoe UI"/>
              </a:rPr>
              <a:t>PC Master — workstation list with status, OS, warranty</a:t>
            </a:r>
          </a:p>
        </p:txBody>
      </p:sp>
      <p:pic>
        <p:nvPicPr>
          <p:cNvPr id="31" name="Picture 30" descr="12-dev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94560"/>
            <a:ext cx="5532120" cy="3456432"/>
          </a:xfrm>
          <a:prstGeom prst="roundRect">
            <a:avLst>
              <a:gd name="adj" fmla="val 5000"/>
            </a:avLst>
          </a:prstGeom>
          <a:ln w="9525">
            <a:solidFill>
              <a:srgbClr val="E2E8F0"/>
            </a:solidFill>
          </a:ln>
        </p:spPr>
      </p:pic>
      <p:sp>
        <p:nvSpPr>
          <p:cNvPr id="32" name="TextBox 31"/>
          <p:cNvSpPr txBox="1"/>
          <p:nvPr/>
        </p:nvSpPr>
        <p:spPr>
          <a:xfrm>
            <a:off x="6172200" y="5715000"/>
            <a:ext cx="5532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i="1">
                <a:solidFill>
                  <a:srgbClr val="64748B"/>
                </a:solidFill>
                <a:latin typeface="Segoe UI"/>
              </a:rPr>
              <a:t>Device Master — peripherals with qty, vendor, delivery date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effectLst/>
        <a:gradFill flip="none" rotWithShape="1">
          <a:gsLst>
            <a:gs pos="0">
              <a:srgbClr val="FAFBFC"/>
            </a:gs>
            <a:gs pos="100000">
              <a:srgbClr val="EEF1F6"/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2286000"/>
            <a:ext cx="5029200" cy="5029200"/>
          </a:xfrm>
          <a:prstGeom prst="ellipse">
            <a:avLst/>
          </a:prstGeom>
          <a:solidFill>
            <a:srgbClr val="10B98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ctr"/>
            <a:r>
              <a:rPr sz="900" b="1">
                <a:solidFill>
                  <a:srgbClr val="10B981"/>
                </a:solidFill>
                <a:latin typeface="Segoe UI"/>
              </a:rPr>
              <a:t>09  · 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60">
                <a:solidFill>
                  <a:srgbClr val="94A3B8"/>
                </a:solidFill>
                <a:latin typeface="Segoe UI"/>
              </a:rPr>
              <a:t>INFRA NINJA  ·  ITAMS</a:t>
            </a:r>
          </a:p>
        </p:txBody>
      </p:sp>
      <p:sp>
        <p:nvSpPr>
          <p:cNvPr id="5" name="Oval 4"/>
          <p:cNvSpPr/>
          <p:nvPr/>
        </p:nvSpPr>
        <p:spPr>
          <a:xfrm>
            <a:off x="9210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5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393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36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679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22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965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08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25151" y="6537960"/>
            <a:ext cx="77724" cy="777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394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53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68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823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966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109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252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395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538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681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824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96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611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Segoe UI"/>
              </a:rPr>
              <a:t>Subscriptions &amp; License / Contract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508760"/>
            <a:ext cx="111556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Recurring expenses that need renewing — the heart of the reminder system.</a:t>
            </a:r>
          </a:p>
        </p:txBody>
      </p:sp>
      <p:pic>
        <p:nvPicPr>
          <p:cNvPr id="29" name="Picture 28" descr="13-subscri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0"/>
            <a:ext cx="5532120" cy="3456432"/>
          </a:xfrm>
          <a:prstGeom prst="roundRect">
            <a:avLst>
              <a:gd name="adj" fmla="val 5000"/>
            </a:avLst>
          </a:prstGeom>
          <a:ln w="9525">
            <a:solidFill>
              <a:srgbClr val="E2E8F0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502920" y="5715000"/>
            <a:ext cx="5532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i="1">
                <a:solidFill>
                  <a:srgbClr val="64748B"/>
                </a:solidFill>
                <a:latin typeface="Segoe UI"/>
              </a:rPr>
              <a:t>Subscriptions — domains, SSL, hosting, cloud</a:t>
            </a:r>
          </a:p>
        </p:txBody>
      </p:sp>
      <p:pic>
        <p:nvPicPr>
          <p:cNvPr id="31" name="Picture 30" descr="14-licenses-contra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94560"/>
            <a:ext cx="5532120" cy="3456432"/>
          </a:xfrm>
          <a:prstGeom prst="roundRect">
            <a:avLst>
              <a:gd name="adj" fmla="val 5000"/>
            </a:avLst>
          </a:prstGeom>
          <a:ln w="9525">
            <a:solidFill>
              <a:srgbClr val="E2E8F0"/>
            </a:solidFill>
          </a:ln>
        </p:spPr>
      </p:pic>
      <p:sp>
        <p:nvSpPr>
          <p:cNvPr id="32" name="TextBox 31"/>
          <p:cNvSpPr txBox="1"/>
          <p:nvPr/>
        </p:nvSpPr>
        <p:spPr>
          <a:xfrm>
            <a:off x="6172200" y="5715000"/>
            <a:ext cx="5532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i="1">
                <a:solidFill>
                  <a:srgbClr val="64748B"/>
                </a:solidFill>
                <a:latin typeface="Segoe UI"/>
              </a:rPr>
              <a:t>License &amp; Contract — software licenses &amp; vendor contracts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effectLst/>
        <a:gradFill flip="none" rotWithShape="1">
          <a:gsLst>
            <a:gs pos="0">
              <a:srgbClr val="FAFBFC"/>
            </a:gs>
            <a:gs pos="100000">
              <a:srgbClr val="EEF1F6"/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6400800" cy="457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0" b="1">
                <a:solidFill>
                  <a:srgbClr val="D3E4FE"/>
                </a:solidFill>
                <a:latin typeface="Segoe UI"/>
              </a:rPr>
              <a:t>02</a:t>
            </a:r>
          </a:p>
        </p:txBody>
      </p:sp>
      <p:sp>
        <p:nvSpPr>
          <p:cNvPr id="3" name="Oval 2"/>
          <p:cNvSpPr/>
          <p:nvPr/>
        </p:nvSpPr>
        <p:spPr>
          <a:xfrm>
            <a:off x="7772400" y="2743200"/>
            <a:ext cx="5486400" cy="5486400"/>
          </a:xfrm>
          <a:prstGeom prst="ellipse">
            <a:avLst/>
          </a:prstGeom>
          <a:solidFill>
            <a:srgbClr val="0D6E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3375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CHAPTER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03320"/>
            <a:ext cx="11155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0F172A"/>
                </a:solidFill>
                <a:latin typeface="Segoe UI"/>
              </a:rPr>
              <a:t>Users &amp; Auth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983480"/>
            <a:ext cx="914400" cy="54864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166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4748B"/>
                </a:solidFill>
                <a:latin typeface="Segoe UI"/>
              </a:rPr>
              <a:t>Two roles, granular per-module permissions, and a modern login / reset 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60">
                <a:solidFill>
                  <a:srgbClr val="94A3B8"/>
                </a:solidFill>
                <a:latin typeface="Segoe UI"/>
              </a:rPr>
              <a:t>INFRA NINJA  ·  ITAMS</a:t>
            </a:r>
          </a:p>
        </p:txBody>
      </p:sp>
      <p:sp>
        <p:nvSpPr>
          <p:cNvPr id="9" name="Oval 8"/>
          <p:cNvSpPr/>
          <p:nvPr/>
        </p:nvSpPr>
        <p:spPr>
          <a:xfrm>
            <a:off x="9210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5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393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36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679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22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965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108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251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39451" y="6537960"/>
            <a:ext cx="77724" cy="77724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53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68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823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966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109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252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0395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1538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681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824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496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611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effectLst/>
        <a:gradFill flip="none" rotWithShape="1">
          <a:gsLst>
            <a:gs pos="0">
              <a:srgbClr val="FAFBFC"/>
            </a:gs>
            <a:gs pos="100000">
              <a:srgbClr val="EEF1F6"/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2286000"/>
            <a:ext cx="5029200" cy="5029200"/>
          </a:xfrm>
          <a:prstGeom prst="ellipse">
            <a:avLst/>
          </a:prstGeom>
          <a:solidFill>
            <a:srgbClr val="0D6E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499616" cy="292608"/>
          </a:xfrm>
          <a:prstGeom prst="roundRect">
            <a:avLst>
              <a:gd name="adj" fmla="val 50000"/>
            </a:avLst>
          </a:prstGeom>
          <a:solidFill>
            <a:srgbClr val="0D6EFD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ctr"/>
            <a:r>
              <a:rPr sz="900" b="1">
                <a:solidFill>
                  <a:srgbClr val="0D6EFD"/>
                </a:solidFill>
                <a:latin typeface="Segoe UI"/>
              </a:rPr>
              <a:t>11  ·  USERS &amp; 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60">
                <a:solidFill>
                  <a:srgbClr val="94A3B8"/>
                </a:solidFill>
                <a:latin typeface="Segoe UI"/>
              </a:rPr>
              <a:t>INFRA NINJA  ·  ITAMS</a:t>
            </a:r>
          </a:p>
        </p:txBody>
      </p:sp>
      <p:sp>
        <p:nvSpPr>
          <p:cNvPr id="5" name="Oval 4"/>
          <p:cNvSpPr/>
          <p:nvPr/>
        </p:nvSpPr>
        <p:spPr>
          <a:xfrm>
            <a:off x="9210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5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393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36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679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22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965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08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251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394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53751" y="6537960"/>
            <a:ext cx="77724" cy="77724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68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823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966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109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252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395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538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681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824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96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611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Segoe UI"/>
              </a:rPr>
              <a:t>Users &amp; permissions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508760"/>
            <a:ext cx="111556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Two roles + 8 granular flags = no shared admin password, no all-or-nothing.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224028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ADMIN  ·  full access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17520" y="2240280"/>
            <a:ext cx="3108960" cy="548640"/>
          </a:xfrm>
          <a:prstGeom prst="roundRect">
            <a:avLst>
              <a:gd name="adj" fmla="val 50000"/>
            </a:avLst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USER  ·  granted per module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108960"/>
            <a:ext cx="10789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400" b="1">
                <a:solidFill>
                  <a:srgbClr val="0F172A"/>
                </a:solidFill>
                <a:latin typeface="Segoe UI"/>
              </a:rPr>
              <a:t>Per-module View</a:t>
            </a:r>
            <a:r>
              <a:rPr sz="1300">
                <a:solidFill>
                  <a:srgbClr val="334055"/>
                </a:solidFill>
                <a:latin typeface="Segoe UI"/>
              </a:rPr>
              <a:t>   see index, show, export, template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400" b="1">
                <a:solidFill>
                  <a:srgbClr val="0F172A"/>
                </a:solidFill>
                <a:latin typeface="Segoe UI"/>
              </a:rPr>
              <a:t>Per-module Edit</a:t>
            </a:r>
            <a:r>
              <a:rPr sz="1300">
                <a:solidFill>
                  <a:srgbClr val="334055"/>
                </a:solidFill>
                <a:latin typeface="Segoe UI"/>
              </a:rPr>
              <a:t>   additionally allowed to create / update / delete / import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400" b="1">
                <a:solidFill>
                  <a:srgbClr val="0F172A"/>
                </a:solidFill>
                <a:latin typeface="Segoe UI"/>
              </a:rPr>
              <a:t>Edit implies View</a:t>
            </a:r>
            <a:r>
              <a:rPr sz="1300">
                <a:solidFill>
                  <a:srgbClr val="334055"/>
                </a:solidFill>
                <a:latin typeface="Segoe UI"/>
              </a:rPr>
              <a:t>   enforced in form, controller, and model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400" b="1">
                <a:solidFill>
                  <a:srgbClr val="0F172A"/>
                </a:solidFill>
                <a:latin typeface="Segoe UI"/>
              </a:rPr>
              <a:t>Admin bypass</a:t>
            </a:r>
            <a:r>
              <a:rPr sz="1300">
                <a:solidFill>
                  <a:srgbClr val="334055"/>
                </a:solidFill>
                <a:latin typeface="Segoe UI"/>
              </a:rPr>
              <a:t>   canView() / canEdit() short-circuit for admins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400" b="1">
                <a:solidFill>
                  <a:srgbClr val="0F172A"/>
                </a:solidFill>
                <a:latin typeface="Segoe UI"/>
              </a:rPr>
              <a:t>Route middleware</a:t>
            </a:r>
            <a:r>
              <a:rPr sz="1300">
                <a:solidFill>
                  <a:srgbClr val="334055"/>
                </a:solidFill>
                <a:latin typeface="Segoe UI"/>
              </a:rPr>
              <a:t>   module:&lt;name&gt;,&lt;view|edit&gt; wraps every module endpoint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400" b="1">
                <a:solidFill>
                  <a:srgbClr val="0F172A"/>
                </a:solidFill>
                <a:latin typeface="Segoe UI"/>
              </a:rPr>
              <a:t>User management</a:t>
            </a:r>
            <a:r>
              <a:rPr sz="1300">
                <a:solidFill>
                  <a:srgbClr val="334055"/>
                </a:solidFill>
                <a:latin typeface="Segoe UI"/>
              </a:rPr>
              <a:t>   admin-only at /users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effectLst/>
        <a:gradFill flip="none" rotWithShape="1">
          <a:gsLst>
            <a:gs pos="0">
              <a:srgbClr val="FAFBFC"/>
            </a:gs>
            <a:gs pos="100000">
              <a:srgbClr val="EEF1F6"/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2286000"/>
            <a:ext cx="5029200" cy="5029200"/>
          </a:xfrm>
          <a:prstGeom prst="ellipse">
            <a:avLst/>
          </a:prstGeom>
          <a:solidFill>
            <a:srgbClr val="0D6E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499616" cy="292608"/>
          </a:xfrm>
          <a:prstGeom prst="roundRect">
            <a:avLst>
              <a:gd name="adj" fmla="val 50000"/>
            </a:avLst>
          </a:prstGeom>
          <a:solidFill>
            <a:srgbClr val="0D6EFD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ctr"/>
            <a:r>
              <a:rPr sz="900" b="1">
                <a:solidFill>
                  <a:srgbClr val="0D6EFD"/>
                </a:solidFill>
                <a:latin typeface="Segoe UI"/>
              </a:rPr>
              <a:t>12  ·  USERS &amp; 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60">
                <a:solidFill>
                  <a:srgbClr val="94A3B8"/>
                </a:solidFill>
                <a:latin typeface="Segoe UI"/>
              </a:rPr>
              <a:t>INFRA NINJA  ·  ITAMS</a:t>
            </a:r>
          </a:p>
        </p:txBody>
      </p:sp>
      <p:sp>
        <p:nvSpPr>
          <p:cNvPr id="5" name="Oval 4"/>
          <p:cNvSpPr/>
          <p:nvPr/>
        </p:nvSpPr>
        <p:spPr>
          <a:xfrm>
            <a:off x="9210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5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393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36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679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22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965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08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251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394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53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68051" y="6537960"/>
            <a:ext cx="77724" cy="77724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823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966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109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252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395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538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681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824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96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611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Segoe UI"/>
              </a:rPr>
              <a:t>Authentication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508760"/>
            <a:ext cx="111556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Login + admin-only password reset by email + role-aware contact-admin branch.</a:t>
            </a:r>
          </a:p>
        </p:txBody>
      </p:sp>
      <p:pic>
        <p:nvPicPr>
          <p:cNvPr id="29" name="Picture 28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0"/>
            <a:ext cx="3657600" cy="2286000"/>
          </a:xfrm>
          <a:prstGeom prst="roundRect">
            <a:avLst>
              <a:gd name="adj" fmla="val 5000"/>
            </a:avLst>
          </a:prstGeom>
          <a:ln w="9525">
            <a:solidFill>
              <a:srgbClr val="E2E8F0"/>
            </a:solidFill>
          </a:ln>
        </p:spPr>
      </p:pic>
      <p:pic>
        <p:nvPicPr>
          <p:cNvPr id="30" name="Picture 29" descr="02-forgot-passw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194560"/>
            <a:ext cx="3657600" cy="2286000"/>
          </a:xfrm>
          <a:prstGeom prst="roundRect">
            <a:avLst>
              <a:gd name="adj" fmla="val 5000"/>
            </a:avLst>
          </a:prstGeom>
          <a:ln w="9525">
            <a:solidFill>
              <a:srgbClr val="E2E8F0"/>
            </a:solidFill>
          </a:ln>
        </p:spPr>
      </p:pic>
      <p:pic>
        <p:nvPicPr>
          <p:cNvPr id="31" name="Picture 30" descr="03-reset-passwo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2194560"/>
            <a:ext cx="3657600" cy="2286000"/>
          </a:xfrm>
          <a:prstGeom prst="roundRect">
            <a:avLst>
              <a:gd name="adj" fmla="val 5000"/>
            </a:avLst>
          </a:prstGeom>
          <a:ln w="9525">
            <a:solidFill>
              <a:srgbClr val="E2E8F0"/>
            </a:solidFill>
          </a:ln>
        </p:spPr>
      </p:pic>
      <p:sp>
        <p:nvSpPr>
          <p:cNvPr id="32" name="TextBox 31"/>
          <p:cNvSpPr txBox="1"/>
          <p:nvPr/>
        </p:nvSpPr>
        <p:spPr>
          <a:xfrm>
            <a:off x="502920" y="4572000"/>
            <a:ext cx="3657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>
                <a:solidFill>
                  <a:srgbClr val="0D6EFD"/>
                </a:solidFill>
                <a:latin typeface="Segoe UI"/>
              </a:rPr>
              <a:t>1 ·  Sign 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572000"/>
            <a:ext cx="3657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>
                <a:solidFill>
                  <a:srgbClr val="6F3CFF"/>
                </a:solidFill>
                <a:latin typeface="Segoe UI"/>
              </a:rPr>
              <a:t>2 ·  Forgot password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572000"/>
            <a:ext cx="3657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>
                <a:solidFill>
                  <a:srgbClr val="10B981"/>
                </a:solidFill>
                <a:latin typeface="Segoe UI"/>
              </a:rPr>
              <a:t>3 ·  Reset password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93776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000">
                <a:solidFill>
                  <a:srgbClr val="334055"/>
                </a:solidFill>
                <a:latin typeface="Segoe UI"/>
              </a:rPr>
              <a:t>Email + password, remember-me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000">
                <a:solidFill>
                  <a:srgbClr val="334055"/>
                </a:solidFill>
                <a:latin typeface="Segoe UI"/>
              </a:rPr>
              <a:t>Modern glass-card shell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000">
                <a:solidFill>
                  <a:srgbClr val="334055"/>
                </a:solidFill>
                <a:latin typeface="Segoe UI"/>
              </a:rPr>
              <a:t>Logs: login / login_failed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93776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000">
                <a:solidFill>
                  <a:srgbClr val="334055"/>
                </a:solidFill>
                <a:latin typeface="Segoe UI"/>
              </a:rPr>
              <a:t>Admin → reset link (60 min)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000">
                <a:solidFill>
                  <a:srgbClr val="334055"/>
                </a:solidFill>
                <a:latin typeface="Segoe UI"/>
              </a:rPr>
              <a:t>Non-admin → contact-admin panel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000">
                <a:solidFill>
                  <a:srgbClr val="334055"/>
                </a:solidFill>
                <a:latin typeface="Segoe UI"/>
              </a:rPr>
              <a:t>Same response → no email leak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493776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000">
                <a:solidFill>
                  <a:srgbClr val="334055"/>
                </a:solidFill>
                <a:latin typeface="Segoe UI"/>
              </a:rPr>
              <a:t>Strength meter + match indicator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000">
                <a:solidFill>
                  <a:srgbClr val="334055"/>
                </a:solidFill>
                <a:latin typeface="Segoe UI"/>
              </a:rPr>
              <a:t>Requirements checklist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000">
                <a:solidFill>
                  <a:srgbClr val="334055"/>
                </a:solidFill>
                <a:latin typeface="Segoe UI"/>
              </a:rPr>
              <a:t>Re-checks role on submit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effectLst/>
        <a:gradFill flip="none" rotWithShape="1">
          <a:gsLst>
            <a:gs pos="0">
              <a:srgbClr val="FAFBFC"/>
            </a:gs>
            <a:gs pos="100000">
              <a:srgbClr val="EEF1F6"/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2286000"/>
            <a:ext cx="5029200" cy="5029200"/>
          </a:xfrm>
          <a:prstGeom prst="ellipse">
            <a:avLst/>
          </a:prstGeom>
          <a:solidFill>
            <a:srgbClr val="0D6E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499616" cy="292608"/>
          </a:xfrm>
          <a:prstGeom prst="roundRect">
            <a:avLst>
              <a:gd name="adj" fmla="val 50000"/>
            </a:avLst>
          </a:prstGeom>
          <a:solidFill>
            <a:srgbClr val="0D6EFD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ctr"/>
            <a:r>
              <a:rPr sz="900" b="1">
                <a:solidFill>
                  <a:srgbClr val="0D6EFD"/>
                </a:solidFill>
                <a:latin typeface="Segoe UI"/>
              </a:rPr>
              <a:t>13  ·  USERS &amp; 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60">
                <a:solidFill>
                  <a:srgbClr val="94A3B8"/>
                </a:solidFill>
                <a:latin typeface="Segoe UI"/>
              </a:rPr>
              <a:t>INFRA NINJA  ·  ITAMS</a:t>
            </a:r>
          </a:p>
        </p:txBody>
      </p:sp>
      <p:sp>
        <p:nvSpPr>
          <p:cNvPr id="5" name="Oval 4"/>
          <p:cNvSpPr/>
          <p:nvPr/>
        </p:nvSpPr>
        <p:spPr>
          <a:xfrm>
            <a:off x="9210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5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393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36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679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22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965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08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251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394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53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68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82351" y="6537960"/>
            <a:ext cx="77724" cy="77724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966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109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252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395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538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681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824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96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611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Segoe UI"/>
              </a:rPr>
              <a:t>Self-service profile  ·  My Account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508760"/>
            <a:ext cx="111556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Every authenticated user updates their own basics — no admin needed.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228600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300" b="1">
                <a:solidFill>
                  <a:srgbClr val="0F172A"/>
                </a:solidFill>
                <a:latin typeface="Segoe UI"/>
              </a:rPr>
              <a:t>Name &amp; Email</a:t>
            </a:r>
            <a:r>
              <a:rPr sz="1200">
                <a:solidFill>
                  <a:srgbClr val="334055"/>
                </a:solidFill>
                <a:latin typeface="Segoe UI"/>
              </a:rPr>
              <a:t>   instant update, unique enforced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300" b="1">
                <a:solidFill>
                  <a:srgbClr val="0F172A"/>
                </a:solidFill>
                <a:latin typeface="Segoe UI"/>
              </a:rPr>
              <a:t>Avatar upload</a:t>
            </a:r>
            <a:r>
              <a:rPr sz="1200">
                <a:solidFill>
                  <a:srgbClr val="334055"/>
                </a:solidFill>
                <a:latin typeface="Segoe UI"/>
              </a:rPr>
              <a:t>   JPG / PNG / WebP up to 2 MB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300" b="1">
                <a:solidFill>
                  <a:srgbClr val="0F172A"/>
                </a:solidFill>
                <a:latin typeface="Segoe UI"/>
              </a:rPr>
              <a:t>Change Password</a:t>
            </a:r>
            <a:r>
              <a:rPr sz="1200">
                <a:solidFill>
                  <a:srgbClr val="334055"/>
                </a:solidFill>
                <a:latin typeface="Segoe UI"/>
              </a:rPr>
              <a:t>   requires current_password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300" b="1">
                <a:solidFill>
                  <a:srgbClr val="0F172A"/>
                </a:solidFill>
                <a:latin typeface="Segoe UI"/>
              </a:rPr>
              <a:t>Role / Module Access</a:t>
            </a:r>
            <a:r>
              <a:rPr sz="1200">
                <a:solidFill>
                  <a:srgbClr val="334055"/>
                </a:solidFill>
                <a:latin typeface="Segoe UI"/>
              </a:rPr>
              <a:t>   shown read-only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300" b="1">
                <a:solidFill>
                  <a:srgbClr val="0F172A"/>
                </a:solidFill>
                <a:latin typeface="Segoe UI"/>
              </a:rPr>
              <a:t>Activity log</a:t>
            </a:r>
            <a:r>
              <a:rPr sz="1200">
                <a:solidFill>
                  <a:srgbClr val="334055"/>
                </a:solidFill>
                <a:latin typeface="Segoe UI"/>
              </a:rPr>
              <a:t>   profile_updated with changed_fields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120640"/>
            <a:ext cx="4937760" cy="4572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Role &amp; permissions  →  admin only</a:t>
            </a:r>
          </a:p>
        </p:txBody>
      </p:sp>
      <p:pic>
        <p:nvPicPr>
          <p:cNvPr id="31" name="Picture 30" descr="16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194560"/>
            <a:ext cx="5852160" cy="3657600"/>
          </a:xfrm>
          <a:prstGeom prst="roundRect">
            <a:avLst>
              <a:gd name="adj" fmla="val 5000"/>
            </a:avLst>
          </a:prstGeom>
          <a:ln w="9525">
            <a:solidFill>
              <a:srgbClr val="E2E8F0"/>
            </a:solidFill>
          </a:ln>
        </p:spPr>
      </p:pic>
      <p:sp>
        <p:nvSpPr>
          <p:cNvPr id="32" name="TextBox 31"/>
          <p:cNvSpPr txBox="1"/>
          <p:nvPr/>
        </p:nvSpPr>
        <p:spPr>
          <a:xfrm>
            <a:off x="5852160" y="5897880"/>
            <a:ext cx="5852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i="1">
                <a:solidFill>
                  <a:srgbClr val="64748B"/>
                </a:solidFill>
                <a:latin typeface="Segoe UI"/>
              </a:rPr>
              <a:t>/profile — My Account page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effectLst/>
        <a:gradFill flip="none" rotWithShape="1">
          <a:gsLst>
            <a:gs pos="0">
              <a:srgbClr val="FAFBFC"/>
            </a:gs>
            <a:gs pos="100000">
              <a:srgbClr val="EEF1F6"/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6400800" cy="457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0" b="1">
                <a:solidFill>
                  <a:srgbClr val="FDEDD3"/>
                </a:solidFill>
                <a:latin typeface="Segoe UI"/>
              </a:rPr>
              <a:t>03</a:t>
            </a:r>
          </a:p>
        </p:txBody>
      </p:sp>
      <p:sp>
        <p:nvSpPr>
          <p:cNvPr id="3" name="Oval 2"/>
          <p:cNvSpPr/>
          <p:nvPr/>
        </p:nvSpPr>
        <p:spPr>
          <a:xfrm>
            <a:off x="7772400" y="2743200"/>
            <a:ext cx="5486400" cy="5486400"/>
          </a:xfrm>
          <a:prstGeom prst="ellipse">
            <a:avLst/>
          </a:prstGeom>
          <a:solidFill>
            <a:srgbClr val="F59E0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3375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CHAPTER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03320"/>
            <a:ext cx="11155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0F172A"/>
                </a:solidFill>
                <a:latin typeface="Segoe UI"/>
              </a:rPr>
              <a:t>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983480"/>
            <a:ext cx="914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166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4748B"/>
                </a:solidFill>
                <a:latin typeface="Segoe UI"/>
              </a:rPr>
              <a:t>What the system shows at a glance — dashboard, notifications, live counts.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60">
                <a:solidFill>
                  <a:srgbClr val="94A3B8"/>
                </a:solidFill>
                <a:latin typeface="Segoe UI"/>
              </a:rPr>
              <a:t>INFRA NINJA  ·  ITAMS</a:t>
            </a:r>
          </a:p>
        </p:txBody>
      </p:sp>
      <p:sp>
        <p:nvSpPr>
          <p:cNvPr id="9" name="Oval 8"/>
          <p:cNvSpPr/>
          <p:nvPr/>
        </p:nvSpPr>
        <p:spPr>
          <a:xfrm>
            <a:off x="9210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5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393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36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679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22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965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108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251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394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53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68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823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96651" y="6537960"/>
            <a:ext cx="77724" cy="777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109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252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0395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1538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681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824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496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611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effectLst/>
        <a:gradFill flip="none" rotWithShape="1">
          <a:gsLst>
            <a:gs pos="0">
              <a:srgbClr val="FAFBFC"/>
            </a:gs>
            <a:gs pos="100000">
              <a:srgbClr val="EEF1F6"/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2286000"/>
            <a:ext cx="5029200" cy="5029200"/>
          </a:xfrm>
          <a:prstGeom prst="ellipse">
            <a:avLst/>
          </a:prstGeom>
          <a:solidFill>
            <a:srgbClr val="F59E0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59E0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ctr"/>
            <a:r>
              <a:rPr sz="900" b="1">
                <a:solidFill>
                  <a:srgbClr val="F59E0B"/>
                </a:solidFill>
                <a:latin typeface="Segoe UI"/>
              </a:rPr>
              <a:t>15  · 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60">
                <a:solidFill>
                  <a:srgbClr val="94A3B8"/>
                </a:solidFill>
                <a:latin typeface="Segoe UI"/>
              </a:rPr>
              <a:t>INFRA NINJA  ·  ITAMS</a:t>
            </a:r>
          </a:p>
        </p:txBody>
      </p:sp>
      <p:sp>
        <p:nvSpPr>
          <p:cNvPr id="5" name="Oval 4"/>
          <p:cNvSpPr/>
          <p:nvPr/>
        </p:nvSpPr>
        <p:spPr>
          <a:xfrm>
            <a:off x="9210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5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393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36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679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22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965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08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251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394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53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68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823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966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10951" y="6537960"/>
            <a:ext cx="77724" cy="777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252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395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538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681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824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96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611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Segoe UI"/>
              </a:rPr>
              <a:t>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508760"/>
            <a:ext cx="111556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Visual digest of the whole estate, refreshed on every load.</a:t>
            </a:r>
          </a:p>
        </p:txBody>
      </p:sp>
      <p:pic>
        <p:nvPicPr>
          <p:cNvPr id="29" name="Picture 28" descr="10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0"/>
            <a:ext cx="7315200" cy="4572000"/>
          </a:xfrm>
          <a:prstGeom prst="roundRect">
            <a:avLst>
              <a:gd name="adj" fmla="val 5000"/>
            </a:avLst>
          </a:prstGeom>
          <a:ln w="9525">
            <a:solidFill>
              <a:srgbClr val="E2E8F0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502920" y="681228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i="1">
                <a:solidFill>
                  <a:srgbClr val="64748B"/>
                </a:solidFill>
                <a:latin typeface="Segoe UI"/>
              </a:rPr>
              <a:t>/dashboard — KPIs, inventory chart, recent activity, expiring lists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2194560"/>
            <a:ext cx="3840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9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100" b="1">
                <a:solidFill>
                  <a:srgbClr val="0F172A"/>
                </a:solidFill>
                <a:latin typeface="Segoe UI"/>
              </a:rPr>
              <a:t>4 KPI cards</a:t>
            </a:r>
            <a:r>
              <a:rPr sz="1000">
                <a:solidFill>
                  <a:srgbClr val="334055"/>
                </a:solidFill>
                <a:latin typeface="Segoe UI"/>
              </a:rPr>
              <a:t>   PCs · Devices · Subs · Expiring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100" b="1">
                <a:solidFill>
                  <a:srgbClr val="0F172A"/>
                </a:solidFill>
                <a:latin typeface="Segoe UI"/>
              </a:rPr>
              <a:t>Inventory chart</a:t>
            </a:r>
            <a:r>
              <a:rPr sz="1000">
                <a:solidFill>
                  <a:srgbClr val="334055"/>
                </a:solidFill>
                <a:latin typeface="Segoe UI"/>
              </a:rPr>
              <a:t>   Chart.js — PC vs Device by status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100" b="1">
                <a:solidFill>
                  <a:srgbClr val="0F172A"/>
                </a:solidFill>
                <a:latin typeface="Segoe UI"/>
              </a:rPr>
              <a:t>Recent activity</a:t>
            </a:r>
            <a:r>
              <a:rPr sz="1000">
                <a:solidFill>
                  <a:srgbClr val="334055"/>
                </a:solidFill>
                <a:latin typeface="Segoe UI"/>
              </a:rPr>
              <a:t>   last 8 audit-log entries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100" b="1">
                <a:solidFill>
                  <a:srgbClr val="0F172A"/>
                </a:solidFill>
                <a:latin typeface="Segoe UI"/>
              </a:rPr>
              <a:t>Expiring tables</a:t>
            </a:r>
            <a:r>
              <a:rPr sz="1000">
                <a:solidFill>
                  <a:srgbClr val="334055"/>
                </a:solidFill>
                <a:latin typeface="Segoe UI"/>
              </a:rPr>
              <a:t>   subs and licenses in next 30 days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100" b="1">
                <a:solidFill>
                  <a:srgbClr val="0F172A"/>
                </a:solidFill>
                <a:latin typeface="Segoe UI"/>
              </a:rPr>
              <a:t>Quick actions</a:t>
            </a:r>
            <a:r>
              <a:rPr sz="1000">
                <a:solidFill>
                  <a:srgbClr val="334055"/>
                </a:solidFill>
                <a:latin typeface="Segoe UI"/>
              </a:rPr>
              <a:t>   header buttons jump to each module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effectLst/>
        <a:gradFill flip="none" rotWithShape="1">
          <a:gsLst>
            <a:gs pos="0">
              <a:srgbClr val="FAFBFC"/>
            </a:gs>
            <a:gs pos="100000">
              <a:srgbClr val="EEF1F6"/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2286000"/>
            <a:ext cx="5029200" cy="5029200"/>
          </a:xfrm>
          <a:prstGeom prst="ellipse">
            <a:avLst/>
          </a:prstGeom>
          <a:solidFill>
            <a:srgbClr val="F59E0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59E0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ctr"/>
            <a:r>
              <a:rPr sz="900" b="1">
                <a:solidFill>
                  <a:srgbClr val="F59E0B"/>
                </a:solidFill>
                <a:latin typeface="Segoe UI"/>
              </a:rPr>
              <a:t>16  · 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60">
                <a:solidFill>
                  <a:srgbClr val="94A3B8"/>
                </a:solidFill>
                <a:latin typeface="Segoe UI"/>
              </a:rPr>
              <a:t>INFRA NINJA  ·  ITAMS</a:t>
            </a:r>
          </a:p>
        </p:txBody>
      </p:sp>
      <p:sp>
        <p:nvSpPr>
          <p:cNvPr id="5" name="Oval 4"/>
          <p:cNvSpPr/>
          <p:nvPr/>
        </p:nvSpPr>
        <p:spPr>
          <a:xfrm>
            <a:off x="9210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5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393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36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679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22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965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08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251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394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53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68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823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966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109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25251" y="6537960"/>
            <a:ext cx="77724" cy="777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395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538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681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824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96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611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Segoe UI"/>
              </a:rPr>
              <a:t>Notifications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508760"/>
            <a:ext cx="111556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Live count · per-user read state · auto-unread on signature drift.</a:t>
            </a:r>
          </a:p>
        </p:txBody>
      </p:sp>
      <p:pic>
        <p:nvPicPr>
          <p:cNvPr id="29" name="Picture 28" descr="15-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0"/>
            <a:ext cx="7315200" cy="4572000"/>
          </a:xfrm>
          <a:prstGeom prst="roundRect">
            <a:avLst>
              <a:gd name="adj" fmla="val 5000"/>
            </a:avLst>
          </a:prstGeom>
          <a:ln w="9525">
            <a:solidFill>
              <a:srgbClr val="E2E8F0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502920" y="681228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i="1">
                <a:solidFill>
                  <a:srgbClr val="64748B"/>
                </a:solidFill>
                <a:latin typeface="Segoe UI"/>
              </a:rPr>
              <a:t>/notifications — live items with module colors and per-row 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2194560"/>
            <a:ext cx="3840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9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100" b="1">
                <a:solidFill>
                  <a:srgbClr val="0F172A"/>
                </a:solidFill>
                <a:latin typeface="Segoe UI"/>
              </a:rPr>
              <a:t>Topbar bell</a:t>
            </a:r>
            <a:r>
              <a:rPr sz="1000">
                <a:solidFill>
                  <a:srgbClr val="334055"/>
                </a:solidFill>
                <a:latin typeface="Segoe UI"/>
              </a:rPr>
              <a:t>   live count per user, urgency tone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100" b="1">
                <a:solidFill>
                  <a:srgbClr val="0F172A"/>
                </a:solidFill>
                <a:latin typeface="Segoe UI"/>
              </a:rPr>
              <a:t>Filter chips</a:t>
            </a:r>
            <a:r>
              <a:rPr sz="1000">
                <a:solidFill>
                  <a:srgbClr val="334055"/>
                </a:solidFill>
                <a:latin typeface="Segoe UI"/>
              </a:rPr>
              <a:t>   All · Unread · Read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100" b="1">
                <a:solidFill>
                  <a:srgbClr val="0F172A"/>
                </a:solidFill>
                <a:latin typeface="Segoe UI"/>
              </a:rPr>
              <a:t>Per-module filter</a:t>
            </a:r>
            <a:r>
              <a:rPr sz="1000">
                <a:solidFill>
                  <a:srgbClr val="334055"/>
                </a:solidFill>
                <a:latin typeface="Segoe UI"/>
              </a:rPr>
              <a:t>   subs · L&amp;C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100" b="1">
                <a:solidFill>
                  <a:srgbClr val="0F172A"/>
                </a:solidFill>
                <a:latin typeface="Segoe UI"/>
              </a:rPr>
              <a:t>Mark as read</a:t>
            </a:r>
            <a:r>
              <a:rPr sz="1000">
                <a:solidFill>
                  <a:srgbClr val="334055"/>
                </a:solidFill>
                <a:latin typeface="Segoe UI"/>
              </a:rPr>
              <a:t>   single item or all</a:t>
            </a:r>
          </a:p>
          <a:p>
            <a:pPr>
              <a:spcAft>
                <a:spcPts val="700"/>
              </a:spcAft>
            </a:pPr>
            <a:r>
              <a:rPr sz="9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100" b="1">
                <a:solidFill>
                  <a:srgbClr val="0F172A"/>
                </a:solidFill>
                <a:latin typeface="Segoe UI"/>
              </a:rPr>
              <a:t>Auto-unread</a:t>
            </a:r>
            <a:r>
              <a:rPr sz="1000">
                <a:solidFill>
                  <a:srgbClr val="334055"/>
                </a:solidFill>
                <a:latin typeface="Segoe UI"/>
              </a:rPr>
              <a:t>   on renewal or bucket transition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effectLst/>
        <a:gradFill flip="none" rotWithShape="1">
          <a:gsLst>
            <a:gs pos="0">
              <a:srgbClr val="FAFBFC"/>
            </a:gs>
            <a:gs pos="100000">
              <a:srgbClr val="EEF1F6"/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6400800" cy="457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0" b="1">
                <a:solidFill>
                  <a:srgbClr val="FCDDDD"/>
                </a:solidFill>
                <a:latin typeface="Segoe UI"/>
              </a:rPr>
              <a:t>04</a:t>
            </a:r>
          </a:p>
        </p:txBody>
      </p:sp>
      <p:sp>
        <p:nvSpPr>
          <p:cNvPr id="3" name="Oval 2"/>
          <p:cNvSpPr/>
          <p:nvPr/>
        </p:nvSpPr>
        <p:spPr>
          <a:xfrm>
            <a:off x="7772400" y="2743200"/>
            <a:ext cx="5486400" cy="5486400"/>
          </a:xfrm>
          <a:prstGeom prst="ellipse">
            <a:avLst/>
          </a:prstGeom>
          <a:solidFill>
            <a:srgbClr val="EF444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3375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CHAPTER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03320"/>
            <a:ext cx="11155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0F172A"/>
                </a:solidFill>
                <a:latin typeface="Segoe UI"/>
              </a:rPr>
              <a:t>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983480"/>
            <a:ext cx="9144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166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4748B"/>
                </a:solidFill>
                <a:latin typeface="Segoe UI"/>
              </a:rPr>
              <a:t>The plumbing keeping it running — mail, reminders, and the audit trail.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60">
                <a:solidFill>
                  <a:srgbClr val="94A3B8"/>
                </a:solidFill>
                <a:latin typeface="Segoe UI"/>
              </a:rPr>
              <a:t>INFRA NINJA  ·  ITAMS</a:t>
            </a:r>
          </a:p>
        </p:txBody>
      </p:sp>
      <p:sp>
        <p:nvSpPr>
          <p:cNvPr id="9" name="Oval 8"/>
          <p:cNvSpPr/>
          <p:nvPr/>
        </p:nvSpPr>
        <p:spPr>
          <a:xfrm>
            <a:off x="9210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5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393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36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679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22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965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108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251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394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53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68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823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966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109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252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039551" y="6537960"/>
            <a:ext cx="77724" cy="7772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1538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681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824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496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611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effectLst/>
        <a:gradFill flip="none" rotWithShape="1">
          <a:gsLst>
            <a:gs pos="0">
              <a:srgbClr val="FAFBFC"/>
            </a:gs>
            <a:gs pos="100000">
              <a:srgbClr val="EEF1F6"/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2286000"/>
            <a:ext cx="5029200" cy="5029200"/>
          </a:xfrm>
          <a:prstGeom prst="ellipse">
            <a:avLst/>
          </a:prstGeom>
          <a:solidFill>
            <a:srgbClr val="EF444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389888" cy="292608"/>
          </a:xfrm>
          <a:prstGeom prst="roundRect">
            <a:avLst>
              <a:gd name="adj" fmla="val 50000"/>
            </a:avLst>
          </a:prstGeom>
          <a:solidFill>
            <a:srgbClr val="EF444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ctr"/>
            <a:r>
              <a:rPr sz="900" b="1">
                <a:solidFill>
                  <a:srgbClr val="EF4444"/>
                </a:solidFill>
                <a:latin typeface="Segoe UI"/>
              </a:rPr>
              <a:t>18  · 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60">
                <a:solidFill>
                  <a:srgbClr val="94A3B8"/>
                </a:solidFill>
                <a:latin typeface="Segoe UI"/>
              </a:rPr>
              <a:t>INFRA NINJA  ·  ITAMS</a:t>
            </a:r>
          </a:p>
        </p:txBody>
      </p:sp>
      <p:sp>
        <p:nvSpPr>
          <p:cNvPr id="5" name="Oval 4"/>
          <p:cNvSpPr/>
          <p:nvPr/>
        </p:nvSpPr>
        <p:spPr>
          <a:xfrm>
            <a:off x="9210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5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393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36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679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22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965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08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251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394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53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68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823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966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109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252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395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53851" y="6537960"/>
            <a:ext cx="77724" cy="7772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681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824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96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611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Segoe UI"/>
              </a:rPr>
              <a:t>Mail &amp; staggered reminders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508760"/>
            <a:ext cx="111556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DB-overridable SMTP plus one digest per (module × selected day-mark).</a:t>
            </a:r>
          </a:p>
        </p:txBody>
      </p:sp>
      <p:pic>
        <p:nvPicPr>
          <p:cNvPr id="29" name="Picture 28" descr="17-mail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0"/>
            <a:ext cx="5532120" cy="3456432"/>
          </a:xfrm>
          <a:prstGeom prst="roundRect">
            <a:avLst>
              <a:gd name="adj" fmla="val 5000"/>
            </a:avLst>
          </a:prstGeom>
          <a:ln w="9525">
            <a:solidFill>
              <a:srgbClr val="E2E8F0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502920" y="5715000"/>
            <a:ext cx="5532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i="1">
                <a:solidFill>
                  <a:srgbClr val="64748B"/>
                </a:solidFill>
                <a:latin typeface="Segoe UI"/>
              </a:rPr>
              <a:t>/mail-settings — SMTP, auth, from identity, test send</a:t>
            </a:r>
          </a:p>
        </p:txBody>
      </p:sp>
      <p:pic>
        <p:nvPicPr>
          <p:cNvPr id="31" name="Picture 30" descr="18-notification-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94560"/>
            <a:ext cx="5532120" cy="3456432"/>
          </a:xfrm>
          <a:prstGeom prst="roundRect">
            <a:avLst>
              <a:gd name="adj" fmla="val 5000"/>
            </a:avLst>
          </a:prstGeom>
          <a:ln w="9525">
            <a:solidFill>
              <a:srgbClr val="E2E8F0"/>
            </a:solidFill>
          </a:ln>
        </p:spPr>
      </p:pic>
      <p:sp>
        <p:nvSpPr>
          <p:cNvPr id="32" name="TextBox 31"/>
          <p:cNvSpPr txBox="1"/>
          <p:nvPr/>
        </p:nvSpPr>
        <p:spPr>
          <a:xfrm>
            <a:off x="6172200" y="5715000"/>
            <a:ext cx="5532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i="1">
                <a:solidFill>
                  <a:srgbClr val="64748B"/>
                </a:solidFill>
                <a:latin typeface="Segoe UI"/>
              </a:rPr>
              <a:t>/notification-settings — per-module enable + 30/20/10 day-mark toggles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effectLst/>
        <a:gradFill flip="none" rotWithShape="1">
          <a:gsLst>
            <a:gs pos="0">
              <a:srgbClr val="FAFBFC"/>
            </a:gs>
            <a:gs pos="100000">
              <a:srgbClr val="EEF1F6"/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2286000"/>
            <a:ext cx="5029200" cy="5029200"/>
          </a:xfrm>
          <a:prstGeom prst="ellipse">
            <a:avLst/>
          </a:prstGeom>
          <a:solidFill>
            <a:srgbClr val="EF444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389888" cy="292608"/>
          </a:xfrm>
          <a:prstGeom prst="roundRect">
            <a:avLst>
              <a:gd name="adj" fmla="val 50000"/>
            </a:avLst>
          </a:prstGeom>
          <a:solidFill>
            <a:srgbClr val="EF444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ctr"/>
            <a:r>
              <a:rPr sz="900" b="1">
                <a:solidFill>
                  <a:srgbClr val="EF4444"/>
                </a:solidFill>
                <a:latin typeface="Segoe UI"/>
              </a:rPr>
              <a:t>19  · 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60">
                <a:solidFill>
                  <a:srgbClr val="94A3B8"/>
                </a:solidFill>
                <a:latin typeface="Segoe UI"/>
              </a:rPr>
              <a:t>INFRA NINJA  ·  ITAMS</a:t>
            </a:r>
          </a:p>
        </p:txBody>
      </p:sp>
      <p:sp>
        <p:nvSpPr>
          <p:cNvPr id="5" name="Oval 4"/>
          <p:cNvSpPr/>
          <p:nvPr/>
        </p:nvSpPr>
        <p:spPr>
          <a:xfrm>
            <a:off x="9210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5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393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36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679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22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965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08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251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394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53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68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823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966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109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252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395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538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68151" y="6537960"/>
            <a:ext cx="77724" cy="7772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824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96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611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Segoe UI"/>
              </a:rPr>
              <a:t>Activity log  ·  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508760"/>
            <a:ext cx="111556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Every meaningful action recorded via App\Support\ActivityLogger::log(...).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2286000"/>
            <a:ext cx="10789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300" b="1">
                <a:solidFill>
                  <a:srgbClr val="0F172A"/>
                </a:solidFill>
                <a:latin typeface="Segoe UI"/>
              </a:rPr>
              <a:t>CRUD on every module</a:t>
            </a:r>
            <a:r>
              <a:rPr sz="1200">
                <a:solidFill>
                  <a:srgbClr val="334055"/>
                </a:solidFill>
                <a:latin typeface="Segoe UI"/>
              </a:rPr>
              <a:t>   created · updated · deleted · imported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300" b="1">
                <a:solidFill>
                  <a:srgbClr val="0F172A"/>
                </a:solidFill>
                <a:latin typeface="Segoe UI"/>
              </a:rPr>
              <a:t>Subscriptions</a:t>
            </a:r>
            <a:r>
              <a:rPr sz="1200">
                <a:solidFill>
                  <a:srgbClr val="334055"/>
                </a:solidFill>
                <a:latin typeface="Segoe UI"/>
              </a:rPr>
              <a:t>   renewed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300" b="1">
                <a:solidFill>
                  <a:srgbClr val="0F172A"/>
                </a:solidFill>
                <a:latin typeface="Segoe UI"/>
              </a:rPr>
              <a:t>Auth</a:t>
            </a:r>
            <a:r>
              <a:rPr sz="1200">
                <a:solidFill>
                  <a:srgbClr val="334055"/>
                </a:solidFill>
                <a:latin typeface="Segoe UI"/>
              </a:rPr>
              <a:t>   login · logout · login_failed · password_reset_*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300" b="1">
                <a:solidFill>
                  <a:srgbClr val="0F172A"/>
                </a:solidFill>
                <a:latin typeface="Segoe UI"/>
              </a:rPr>
              <a:t>User &amp; profile</a:t>
            </a:r>
            <a:r>
              <a:rPr sz="1200">
                <a:solidFill>
                  <a:srgbClr val="334055"/>
                </a:solidFill>
                <a:latin typeface="Segoe UI"/>
              </a:rPr>
              <a:t>   profile_updated · mail_sent · mail_test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300" b="1">
                <a:solidFill>
                  <a:srgbClr val="0F172A"/>
                </a:solidFill>
                <a:latin typeface="Segoe UI"/>
              </a:rPr>
              <a:t>Settings</a:t>
            </a:r>
            <a:r>
              <a:rPr sz="1200">
                <a:solidFill>
                  <a:srgbClr val="334055"/>
                </a:solidFill>
                <a:latin typeface="Segoe UI"/>
              </a:rPr>
              <a:t>   Mail / Notification updates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300" b="1">
                <a:solidFill>
                  <a:srgbClr val="0F172A"/>
                </a:solidFill>
                <a:latin typeface="Segoe UI"/>
              </a:rPr>
              <a:t>Captured fields</a:t>
            </a:r>
            <a:r>
              <a:rPr sz="1200">
                <a:solidFill>
                  <a:srgbClr val="334055"/>
                </a:solidFill>
                <a:latin typeface="Segoe UI"/>
              </a:rPr>
              <a:t>   subject_type/id · user_id/name/email · properties · ip · user_agent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300" b="1">
                <a:solidFill>
                  <a:srgbClr val="0F172A"/>
                </a:solidFill>
                <a:latin typeface="Segoe UI"/>
              </a:rPr>
              <a:t>Visible at</a:t>
            </a:r>
            <a:r>
              <a:rPr sz="1200">
                <a:solidFill>
                  <a:srgbClr val="334055"/>
                </a:solidFill>
                <a:latin typeface="Segoe UI"/>
              </a:rPr>
              <a:t>   /activity-logs (admin-only, paginated)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effectLst/>
        <a:gradFill flip="none" rotWithShape="1">
          <a:gsLst>
            <a:gs pos="0">
              <a:srgbClr val="FAFBFC"/>
            </a:gs>
            <a:gs pos="100000">
              <a:srgbClr val="EEF1F6"/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6400800" cy="457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0" b="1">
                <a:solidFill>
                  <a:srgbClr val="E3E5EA"/>
                </a:solidFill>
                <a:latin typeface="Segoe UI"/>
              </a:rPr>
              <a:t>05</a:t>
            </a:r>
          </a:p>
        </p:txBody>
      </p:sp>
      <p:sp>
        <p:nvSpPr>
          <p:cNvPr id="3" name="Oval 2"/>
          <p:cNvSpPr/>
          <p:nvPr/>
        </p:nvSpPr>
        <p:spPr>
          <a:xfrm>
            <a:off x="7772400" y="2743200"/>
            <a:ext cx="5486400" cy="5486400"/>
          </a:xfrm>
          <a:prstGeom prst="ellipse">
            <a:avLst/>
          </a:prstGeom>
          <a:solidFill>
            <a:srgbClr val="64748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3375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CHAPTER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03320"/>
            <a:ext cx="11155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0F172A"/>
                </a:solidFill>
                <a:latin typeface="Segoe UI"/>
              </a:rPr>
              <a:t>Wrap-up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983480"/>
            <a:ext cx="914400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166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4748B"/>
                </a:solidFill>
                <a:latin typeface="Segoe UI"/>
              </a:rPr>
              <a:t>Setup, where it could go next, and the team behind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60">
                <a:solidFill>
                  <a:srgbClr val="94A3B8"/>
                </a:solidFill>
                <a:latin typeface="Segoe UI"/>
              </a:rPr>
              <a:t>INFRA NINJA  ·  ITAMS</a:t>
            </a:r>
          </a:p>
        </p:txBody>
      </p:sp>
      <p:sp>
        <p:nvSpPr>
          <p:cNvPr id="9" name="Oval 8"/>
          <p:cNvSpPr/>
          <p:nvPr/>
        </p:nvSpPr>
        <p:spPr>
          <a:xfrm>
            <a:off x="9210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5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393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36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679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22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965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108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251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394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53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68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823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966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109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252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0395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1538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681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82451" y="6537960"/>
            <a:ext cx="77724" cy="77724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4967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611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effectLst/>
        <a:gradFill flip="none" rotWithShape="1">
          <a:gsLst>
            <a:gs pos="0">
              <a:srgbClr val="FAFBFC"/>
            </a:gs>
            <a:gs pos="100000">
              <a:srgbClr val="EEF1F6"/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2286000"/>
            <a:ext cx="5029200" cy="5029200"/>
          </a:xfrm>
          <a:prstGeom prst="ellipse">
            <a:avLst/>
          </a:prstGeom>
          <a:solidFill>
            <a:srgbClr val="64748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64748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ctr"/>
            <a:r>
              <a:rPr sz="900" b="1">
                <a:solidFill>
                  <a:srgbClr val="64748B"/>
                </a:solidFill>
                <a:latin typeface="Segoe UI"/>
              </a:rPr>
              <a:t>21  · 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60">
                <a:solidFill>
                  <a:srgbClr val="94A3B8"/>
                </a:solidFill>
                <a:latin typeface="Segoe UI"/>
              </a:rPr>
              <a:t>INFRA NINJA  ·  ITAMS</a:t>
            </a:r>
          </a:p>
        </p:txBody>
      </p:sp>
      <p:sp>
        <p:nvSpPr>
          <p:cNvPr id="5" name="Oval 4"/>
          <p:cNvSpPr/>
          <p:nvPr/>
        </p:nvSpPr>
        <p:spPr>
          <a:xfrm>
            <a:off x="9210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5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393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36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679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22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965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08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251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394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537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680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823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966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109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252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395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538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681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82451" y="6537960"/>
            <a:ext cx="77724" cy="7772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96751" y="6537960"/>
            <a:ext cx="77724" cy="77724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611051" y="6537960"/>
            <a:ext cx="77724" cy="777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Segoe UI"/>
              </a:rPr>
              <a:t>Setup &amp; next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508760"/>
            <a:ext cx="111556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How to get it running, and where it could go next.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2194560"/>
            <a:ext cx="553212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2194560"/>
            <a:ext cx="77724" cy="42062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2450592"/>
            <a:ext cx="5074920" cy="3813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D6EFD"/>
                </a:solidFill>
                <a:latin typeface="Segoe UI"/>
              </a:rPr>
              <a:t>Get it running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composer install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cp .env.example .env  →  set APP_*, DB_*, MAIL_*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php artisan key:generate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php artisan migrate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php artisan storage:link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npm install &amp;&amp; npm run build  (optional)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0D6EFD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Schedule:  php artisan schedule:run  (every minute)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2194560"/>
            <a:ext cx="553212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2194560"/>
            <a:ext cx="77724" cy="4206240"/>
          </a:xfrm>
          <a:prstGeom prst="rect">
            <a:avLst/>
          </a:prstGeom>
          <a:solidFill>
            <a:srgbClr val="6F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8" y="2450592"/>
            <a:ext cx="5074920" cy="3813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6F3CFF"/>
                </a:solidFill>
                <a:latin typeface="Segoe UI"/>
              </a:rPr>
              <a:t>Possible next iterations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6F3CFF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Warranty-expiry tracking for PCs &amp; Devices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6F3CFF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Two-factor authentication for admins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6F3CFF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Weekly overdue digest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6F3CFF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Per-user notification preferences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6F3CFF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PDF export for contracts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6F3CFF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API surface for integrations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6F3CFF"/>
                </a:solidFill>
                <a:latin typeface="Segoe UI"/>
              </a:rPr>
              <a:t>●  </a:t>
            </a:r>
            <a:r>
              <a:rPr sz="1100">
                <a:solidFill>
                  <a:srgbClr val="334055"/>
                </a:solidFill>
                <a:latin typeface="Segoe UI"/>
              </a:rPr>
              <a:t>Soft-delete + restore on critical tables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effectLst/>
        <a:gradFill flip="none" rotWithShape="1">
          <a:gsLst>
            <a:gs pos="0">
              <a:srgbClr val="334DCC"/>
            </a:gs>
            <a:gs pos="100000">
              <a:srgbClr val="4C1D95"/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2011680"/>
            <a:ext cx="4114800" cy="4114800"/>
          </a:xfrm>
          <a:prstGeom prst="ellipse">
            <a:avLst/>
          </a:prstGeom>
          <a:solidFill>
            <a:srgbClr val="A87FFF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6B8AFF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11277295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547207" y="3657600"/>
            <a:ext cx="1097280" cy="54864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8862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FFFFFF"/>
                </a:solidFill>
                <a:latin typeface="Segoe UI"/>
              </a:rPr>
              <a:t>Questions  · 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E0E7FF"/>
                </a:solidFill>
                <a:latin typeface="Segoe UI"/>
              </a:rPr>
              <a:t>Infra Ninja  ·  IT Assets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